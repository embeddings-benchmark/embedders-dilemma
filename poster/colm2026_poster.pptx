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1206400" cy="2633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92" userDrawn="1">
          <p15:clr>
            <a:srgbClr val="A4A3A4"/>
          </p15:clr>
        </p15:guide>
        <p15:guide id="2" pos="16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3"/>
  </p:normalViewPr>
  <p:slideViewPr>
    <p:cSldViewPr snapToGrid="0" showGuides="1">
      <p:cViewPr>
        <p:scale>
          <a:sx n="20" d="100"/>
          <a:sy n="20" d="100"/>
        </p:scale>
        <p:origin x="1928" y="1088"/>
      </p:cViewPr>
      <p:guideLst>
        <p:guide orient="horz" pos="8292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309147"/>
            <a:ext cx="38404800" cy="9166836"/>
          </a:xfrm>
        </p:spPr>
        <p:txBody>
          <a:bodyPr anchor="b"/>
          <a:lstStyle>
            <a:lvl1pPr algn="ctr">
              <a:defRPr sz="230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3829491"/>
            <a:ext cx="38404800" cy="6357053"/>
          </a:xfrm>
        </p:spPr>
        <p:txBody>
          <a:bodyPr/>
          <a:lstStyle>
            <a:lvl1pPr marL="0" indent="0" algn="ctr">
              <a:buNone/>
              <a:defRPr sz="9215"/>
            </a:lvl1pPr>
            <a:lvl2pPr marL="1755374" indent="0" algn="ctr">
              <a:buNone/>
              <a:defRPr sz="7679"/>
            </a:lvl2pPr>
            <a:lvl3pPr marL="3510747" indent="0" algn="ctr">
              <a:buNone/>
              <a:defRPr sz="6911"/>
            </a:lvl3pPr>
            <a:lvl4pPr marL="5266121" indent="0" algn="ctr">
              <a:buNone/>
              <a:defRPr sz="6143"/>
            </a:lvl4pPr>
            <a:lvl5pPr marL="7021495" indent="0" algn="ctr">
              <a:buNone/>
              <a:defRPr sz="6143"/>
            </a:lvl5pPr>
            <a:lvl6pPr marL="8776868" indent="0" algn="ctr">
              <a:buNone/>
              <a:defRPr sz="6143"/>
            </a:lvl6pPr>
            <a:lvl7pPr marL="10532242" indent="0" algn="ctr">
              <a:buNone/>
              <a:defRPr sz="6143"/>
            </a:lvl7pPr>
            <a:lvl8pPr marL="12287616" indent="0" algn="ctr">
              <a:buNone/>
              <a:defRPr sz="6143"/>
            </a:lvl8pPr>
            <a:lvl9pPr marL="14042989" indent="0" algn="ctr">
              <a:buNone/>
              <a:defRPr sz="614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426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104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6564288"/>
            <a:ext cx="44165520" cy="10952661"/>
          </a:xfrm>
        </p:spPr>
        <p:txBody>
          <a:bodyPr anchor="b"/>
          <a:lstStyle>
            <a:lvl1pPr>
              <a:defRPr sz="230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7620565"/>
            <a:ext cx="44165520" cy="5759746"/>
          </a:xfrm>
        </p:spPr>
        <p:txBody>
          <a:bodyPr/>
          <a:lstStyle>
            <a:lvl1pPr marL="0" indent="0">
              <a:buNone/>
              <a:defRPr sz="9215">
                <a:solidFill>
                  <a:schemeClr val="tx1">
                    <a:tint val="82000"/>
                  </a:schemeClr>
                </a:solidFill>
              </a:defRPr>
            </a:lvl1pPr>
            <a:lvl2pPr marL="1755374" indent="0">
              <a:buNone/>
              <a:defRPr sz="7679">
                <a:solidFill>
                  <a:schemeClr val="tx1">
                    <a:tint val="82000"/>
                  </a:schemeClr>
                </a:solidFill>
              </a:defRPr>
            </a:lvl2pPr>
            <a:lvl3pPr marL="3510747" indent="0">
              <a:buNone/>
              <a:defRPr sz="6911">
                <a:solidFill>
                  <a:schemeClr val="tx1">
                    <a:tint val="82000"/>
                  </a:schemeClr>
                </a:solidFill>
              </a:defRPr>
            </a:lvl3pPr>
            <a:lvl4pPr marL="5266121" indent="0">
              <a:buNone/>
              <a:defRPr sz="6143">
                <a:solidFill>
                  <a:schemeClr val="tx1">
                    <a:tint val="82000"/>
                  </a:schemeClr>
                </a:solidFill>
              </a:defRPr>
            </a:lvl4pPr>
            <a:lvl5pPr marL="7021495" indent="0">
              <a:buNone/>
              <a:defRPr sz="6143">
                <a:solidFill>
                  <a:schemeClr val="tx1">
                    <a:tint val="82000"/>
                  </a:schemeClr>
                </a:solidFill>
              </a:defRPr>
            </a:lvl5pPr>
            <a:lvl6pPr marL="8776868" indent="0">
              <a:buNone/>
              <a:defRPr sz="6143">
                <a:solidFill>
                  <a:schemeClr val="tx1">
                    <a:tint val="82000"/>
                  </a:schemeClr>
                </a:solidFill>
              </a:defRPr>
            </a:lvl6pPr>
            <a:lvl7pPr marL="10532242" indent="0">
              <a:buNone/>
              <a:defRPr sz="6143">
                <a:solidFill>
                  <a:schemeClr val="tx1">
                    <a:tint val="82000"/>
                  </a:schemeClr>
                </a:solidFill>
              </a:defRPr>
            </a:lvl7pPr>
            <a:lvl8pPr marL="12287616" indent="0">
              <a:buNone/>
              <a:defRPr sz="6143">
                <a:solidFill>
                  <a:schemeClr val="tx1">
                    <a:tint val="82000"/>
                  </a:schemeClr>
                </a:solidFill>
              </a:defRPr>
            </a:lvl8pPr>
            <a:lvl9pPr marL="14042989" indent="0">
              <a:buNone/>
              <a:defRPr sz="614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673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009217"/>
            <a:ext cx="21762720" cy="16706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009217"/>
            <a:ext cx="21762720" cy="16706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641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401845"/>
            <a:ext cx="44165520" cy="50893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6454576"/>
            <a:ext cx="21662705" cy="3163288"/>
          </a:xfrm>
        </p:spPr>
        <p:txBody>
          <a:bodyPr anchor="b"/>
          <a:lstStyle>
            <a:lvl1pPr marL="0" indent="0">
              <a:buNone/>
              <a:defRPr sz="9215" b="1"/>
            </a:lvl1pPr>
            <a:lvl2pPr marL="1755374" indent="0">
              <a:buNone/>
              <a:defRPr sz="7679" b="1"/>
            </a:lvl2pPr>
            <a:lvl3pPr marL="3510747" indent="0">
              <a:buNone/>
              <a:defRPr sz="6911" b="1"/>
            </a:lvl3pPr>
            <a:lvl4pPr marL="5266121" indent="0">
              <a:buNone/>
              <a:defRPr sz="6143" b="1"/>
            </a:lvl4pPr>
            <a:lvl5pPr marL="7021495" indent="0">
              <a:buNone/>
              <a:defRPr sz="6143" b="1"/>
            </a:lvl5pPr>
            <a:lvl6pPr marL="8776868" indent="0">
              <a:buNone/>
              <a:defRPr sz="6143" b="1"/>
            </a:lvl6pPr>
            <a:lvl7pPr marL="10532242" indent="0">
              <a:buNone/>
              <a:defRPr sz="6143" b="1"/>
            </a:lvl7pPr>
            <a:lvl8pPr marL="12287616" indent="0">
              <a:buNone/>
              <a:defRPr sz="6143" b="1"/>
            </a:lvl8pPr>
            <a:lvl9pPr marL="14042989" indent="0">
              <a:buNone/>
              <a:defRPr sz="61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9617864"/>
            <a:ext cx="21662705" cy="141464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6454576"/>
            <a:ext cx="21769390" cy="3163288"/>
          </a:xfrm>
        </p:spPr>
        <p:txBody>
          <a:bodyPr anchor="b"/>
          <a:lstStyle>
            <a:lvl1pPr marL="0" indent="0">
              <a:buNone/>
              <a:defRPr sz="9215" b="1"/>
            </a:lvl1pPr>
            <a:lvl2pPr marL="1755374" indent="0">
              <a:buNone/>
              <a:defRPr sz="7679" b="1"/>
            </a:lvl2pPr>
            <a:lvl3pPr marL="3510747" indent="0">
              <a:buNone/>
              <a:defRPr sz="6911" b="1"/>
            </a:lvl3pPr>
            <a:lvl4pPr marL="5266121" indent="0">
              <a:buNone/>
              <a:defRPr sz="6143" b="1"/>
            </a:lvl4pPr>
            <a:lvl5pPr marL="7021495" indent="0">
              <a:buNone/>
              <a:defRPr sz="6143" b="1"/>
            </a:lvl5pPr>
            <a:lvl6pPr marL="8776868" indent="0">
              <a:buNone/>
              <a:defRPr sz="6143" b="1"/>
            </a:lvl6pPr>
            <a:lvl7pPr marL="10532242" indent="0">
              <a:buNone/>
              <a:defRPr sz="6143" b="1"/>
            </a:lvl7pPr>
            <a:lvl8pPr marL="12287616" indent="0">
              <a:buNone/>
              <a:defRPr sz="6143" b="1"/>
            </a:lvl8pPr>
            <a:lvl9pPr marL="14042989" indent="0">
              <a:buNone/>
              <a:defRPr sz="61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9617864"/>
            <a:ext cx="21769390" cy="141464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635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32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75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755352"/>
            <a:ext cx="16515395" cy="6143731"/>
          </a:xfrm>
        </p:spPr>
        <p:txBody>
          <a:bodyPr anchor="b"/>
          <a:lstStyle>
            <a:lvl1pPr>
              <a:defRPr sz="122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3791074"/>
            <a:ext cx="25923240" cy="18711561"/>
          </a:xfrm>
        </p:spPr>
        <p:txBody>
          <a:bodyPr/>
          <a:lstStyle>
            <a:lvl1pPr>
              <a:defRPr sz="12286"/>
            </a:lvl1pPr>
            <a:lvl2pPr>
              <a:defRPr sz="10750"/>
            </a:lvl2pPr>
            <a:lvl3pPr>
              <a:defRPr sz="9215"/>
            </a:lvl3pPr>
            <a:lvl4pPr>
              <a:defRPr sz="7679"/>
            </a:lvl4pPr>
            <a:lvl5pPr>
              <a:defRPr sz="7679"/>
            </a:lvl5pPr>
            <a:lvl6pPr>
              <a:defRPr sz="7679"/>
            </a:lvl6pPr>
            <a:lvl7pPr>
              <a:defRPr sz="7679"/>
            </a:lvl7pPr>
            <a:lvl8pPr>
              <a:defRPr sz="7679"/>
            </a:lvl8pPr>
            <a:lvl9pPr>
              <a:defRPr sz="76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7899083"/>
            <a:ext cx="16515395" cy="14634027"/>
          </a:xfrm>
        </p:spPr>
        <p:txBody>
          <a:bodyPr/>
          <a:lstStyle>
            <a:lvl1pPr marL="0" indent="0">
              <a:buNone/>
              <a:defRPr sz="6143"/>
            </a:lvl1pPr>
            <a:lvl2pPr marL="1755374" indent="0">
              <a:buNone/>
              <a:defRPr sz="5375"/>
            </a:lvl2pPr>
            <a:lvl3pPr marL="3510747" indent="0">
              <a:buNone/>
              <a:defRPr sz="4607"/>
            </a:lvl3pPr>
            <a:lvl4pPr marL="5266121" indent="0">
              <a:buNone/>
              <a:defRPr sz="3839"/>
            </a:lvl4pPr>
            <a:lvl5pPr marL="7021495" indent="0">
              <a:buNone/>
              <a:defRPr sz="3839"/>
            </a:lvl5pPr>
            <a:lvl6pPr marL="8776868" indent="0">
              <a:buNone/>
              <a:defRPr sz="3839"/>
            </a:lvl6pPr>
            <a:lvl7pPr marL="10532242" indent="0">
              <a:buNone/>
              <a:defRPr sz="3839"/>
            </a:lvl7pPr>
            <a:lvl8pPr marL="12287616" indent="0">
              <a:buNone/>
              <a:defRPr sz="3839"/>
            </a:lvl8pPr>
            <a:lvl9pPr marL="14042989" indent="0">
              <a:buNone/>
              <a:defRPr sz="38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607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755352"/>
            <a:ext cx="16515395" cy="6143731"/>
          </a:xfrm>
        </p:spPr>
        <p:txBody>
          <a:bodyPr anchor="b"/>
          <a:lstStyle>
            <a:lvl1pPr>
              <a:defRPr sz="122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3791074"/>
            <a:ext cx="25923240" cy="18711561"/>
          </a:xfrm>
        </p:spPr>
        <p:txBody>
          <a:bodyPr anchor="t"/>
          <a:lstStyle>
            <a:lvl1pPr marL="0" indent="0">
              <a:buNone/>
              <a:defRPr sz="12286"/>
            </a:lvl1pPr>
            <a:lvl2pPr marL="1755374" indent="0">
              <a:buNone/>
              <a:defRPr sz="10750"/>
            </a:lvl2pPr>
            <a:lvl3pPr marL="3510747" indent="0">
              <a:buNone/>
              <a:defRPr sz="9215"/>
            </a:lvl3pPr>
            <a:lvl4pPr marL="5266121" indent="0">
              <a:buNone/>
              <a:defRPr sz="7679"/>
            </a:lvl4pPr>
            <a:lvl5pPr marL="7021495" indent="0">
              <a:buNone/>
              <a:defRPr sz="7679"/>
            </a:lvl5pPr>
            <a:lvl6pPr marL="8776868" indent="0">
              <a:buNone/>
              <a:defRPr sz="7679"/>
            </a:lvl6pPr>
            <a:lvl7pPr marL="10532242" indent="0">
              <a:buNone/>
              <a:defRPr sz="7679"/>
            </a:lvl7pPr>
            <a:lvl8pPr marL="12287616" indent="0">
              <a:buNone/>
              <a:defRPr sz="7679"/>
            </a:lvl8pPr>
            <a:lvl9pPr marL="14042989" indent="0">
              <a:buNone/>
              <a:defRPr sz="767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7899083"/>
            <a:ext cx="16515395" cy="14634027"/>
          </a:xfrm>
        </p:spPr>
        <p:txBody>
          <a:bodyPr/>
          <a:lstStyle>
            <a:lvl1pPr marL="0" indent="0">
              <a:buNone/>
              <a:defRPr sz="6143"/>
            </a:lvl1pPr>
            <a:lvl2pPr marL="1755374" indent="0">
              <a:buNone/>
              <a:defRPr sz="5375"/>
            </a:lvl2pPr>
            <a:lvl3pPr marL="3510747" indent="0">
              <a:buNone/>
              <a:defRPr sz="4607"/>
            </a:lvl3pPr>
            <a:lvl4pPr marL="5266121" indent="0">
              <a:buNone/>
              <a:defRPr sz="3839"/>
            </a:lvl4pPr>
            <a:lvl5pPr marL="7021495" indent="0">
              <a:buNone/>
              <a:defRPr sz="3839"/>
            </a:lvl5pPr>
            <a:lvl6pPr marL="8776868" indent="0">
              <a:buNone/>
              <a:defRPr sz="3839"/>
            </a:lvl6pPr>
            <a:lvl7pPr marL="10532242" indent="0">
              <a:buNone/>
              <a:defRPr sz="3839"/>
            </a:lvl7pPr>
            <a:lvl8pPr marL="12287616" indent="0">
              <a:buNone/>
              <a:defRPr sz="3839"/>
            </a:lvl8pPr>
            <a:lvl9pPr marL="14042989" indent="0">
              <a:buNone/>
              <a:defRPr sz="38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197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49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401843"/>
            <a:ext cx="11041380" cy="223136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401843"/>
            <a:ext cx="32484060" cy="223136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2219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401845"/>
            <a:ext cx="44165520" cy="508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009217"/>
            <a:ext cx="44165520" cy="16706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4404266"/>
            <a:ext cx="11521440" cy="1401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739A2-B616-41A0-BB6E-6CF76050B616}" type="datetimeFigureOut">
              <a:rPr lang="es-ES" smtClean="0"/>
              <a:t>18/9/26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4404266"/>
            <a:ext cx="17282160" cy="1401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4404266"/>
            <a:ext cx="11521440" cy="1401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06B53-C512-432F-83D8-A457950C132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3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510747" rtl="0" eaLnBrk="1" latinLnBrk="0" hangingPunct="1">
        <a:lnSpc>
          <a:spcPct val="90000"/>
        </a:lnSpc>
        <a:spcBef>
          <a:spcPct val="0"/>
        </a:spcBef>
        <a:buNone/>
        <a:defRPr sz="168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77687" indent="-877687" algn="l" defTabSz="3510747" rtl="0" eaLnBrk="1" latinLnBrk="0" hangingPunct="1">
        <a:lnSpc>
          <a:spcPct val="90000"/>
        </a:lnSpc>
        <a:spcBef>
          <a:spcPts val="3839"/>
        </a:spcBef>
        <a:buFont typeface="Arial" panose="020B0604020202020204" pitchFamily="34" charset="0"/>
        <a:buChar char="•"/>
        <a:defRPr sz="10750" kern="1200">
          <a:solidFill>
            <a:schemeClr val="tx1"/>
          </a:solidFill>
          <a:latin typeface="+mn-lt"/>
          <a:ea typeface="+mn-ea"/>
          <a:cs typeface="+mn-cs"/>
        </a:defRPr>
      </a:lvl1pPr>
      <a:lvl2pPr marL="2633061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9215" kern="1200">
          <a:solidFill>
            <a:schemeClr val="tx1"/>
          </a:solidFill>
          <a:latin typeface="+mn-lt"/>
          <a:ea typeface="+mn-ea"/>
          <a:cs typeface="+mn-cs"/>
        </a:defRPr>
      </a:lvl2pPr>
      <a:lvl3pPr marL="4388434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7679" kern="1200">
          <a:solidFill>
            <a:schemeClr val="tx1"/>
          </a:solidFill>
          <a:latin typeface="+mn-lt"/>
          <a:ea typeface="+mn-ea"/>
          <a:cs typeface="+mn-cs"/>
        </a:defRPr>
      </a:lvl3pPr>
      <a:lvl4pPr marL="6143808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6911" kern="1200">
          <a:solidFill>
            <a:schemeClr val="tx1"/>
          </a:solidFill>
          <a:latin typeface="+mn-lt"/>
          <a:ea typeface="+mn-ea"/>
          <a:cs typeface="+mn-cs"/>
        </a:defRPr>
      </a:lvl4pPr>
      <a:lvl5pPr marL="7899182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6911" kern="1200">
          <a:solidFill>
            <a:schemeClr val="tx1"/>
          </a:solidFill>
          <a:latin typeface="+mn-lt"/>
          <a:ea typeface="+mn-ea"/>
          <a:cs typeface="+mn-cs"/>
        </a:defRPr>
      </a:lvl5pPr>
      <a:lvl6pPr marL="9654555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6911" kern="1200">
          <a:solidFill>
            <a:schemeClr val="tx1"/>
          </a:solidFill>
          <a:latin typeface="+mn-lt"/>
          <a:ea typeface="+mn-ea"/>
          <a:cs typeface="+mn-cs"/>
        </a:defRPr>
      </a:lvl6pPr>
      <a:lvl7pPr marL="11409929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6911" kern="1200">
          <a:solidFill>
            <a:schemeClr val="tx1"/>
          </a:solidFill>
          <a:latin typeface="+mn-lt"/>
          <a:ea typeface="+mn-ea"/>
          <a:cs typeface="+mn-cs"/>
        </a:defRPr>
      </a:lvl7pPr>
      <a:lvl8pPr marL="13165303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6911" kern="1200">
          <a:solidFill>
            <a:schemeClr val="tx1"/>
          </a:solidFill>
          <a:latin typeface="+mn-lt"/>
          <a:ea typeface="+mn-ea"/>
          <a:cs typeface="+mn-cs"/>
        </a:defRPr>
      </a:lvl8pPr>
      <a:lvl9pPr marL="14920676" indent="-877687" algn="l" defTabSz="3510747" rtl="0" eaLnBrk="1" latinLnBrk="0" hangingPunct="1">
        <a:lnSpc>
          <a:spcPct val="90000"/>
        </a:lnSpc>
        <a:spcBef>
          <a:spcPts val="1920"/>
        </a:spcBef>
        <a:buFont typeface="Arial" panose="020B0604020202020204" pitchFamily="34" charset="0"/>
        <a:buChar char="•"/>
        <a:defRPr sz="69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1pPr>
      <a:lvl2pPr marL="1755374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2pPr>
      <a:lvl3pPr marL="3510747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3pPr>
      <a:lvl4pPr marL="5266121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4pPr>
      <a:lvl5pPr marL="7021495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5pPr>
      <a:lvl6pPr marL="8776868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6pPr>
      <a:lvl7pPr marL="10532242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7pPr>
      <a:lvl8pPr marL="12287616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8pPr>
      <a:lvl9pPr marL="14042989" algn="l" defTabSz="3510747" rtl="0" eaLnBrk="1" latinLnBrk="0" hangingPunct="1">
        <a:defRPr sz="69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30" y="-1"/>
            <a:ext cx="51197140" cy="26329958"/>
          </a:xfrm>
          <a:prstGeom prst="rect">
            <a:avLst/>
          </a:prstGeom>
          <a:solidFill>
            <a:srgbClr val="FA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5702" y="426642"/>
            <a:ext cx="49774997" cy="3270928"/>
          </a:xfrm>
          <a:prstGeom prst="roundRect">
            <a:avLst>
              <a:gd name="adj" fmla="val 3000"/>
            </a:avLst>
          </a:prstGeom>
          <a:solidFill>
            <a:srgbClr val="0A3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55666" y="483528"/>
            <a:ext cx="31287141" cy="1339868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75" b="1">
                <a:solidFill>
                  <a:srgbClr val="FFFFFF"/>
                </a:solidFill>
                <a:latin typeface="Arial"/>
              </a:rPr>
              <a:t>The Embedder's Dilemma: LLMs Are Better, but at What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666" y="1763456"/>
            <a:ext cx="31287141" cy="57428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99">
                <a:solidFill>
                  <a:srgbClr val="F7A6C9"/>
                </a:solidFill>
                <a:latin typeface="Arial"/>
              </a:rPr>
              <a:t>Adnan El Assadi  ·  Harvard        Niklas Muennighoff  ·  Stanford        Jinhyuk Lee  ·  Independent 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5666" y="2360756"/>
            <a:ext cx="31287141" cy="909188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76" b="1">
                <a:solidFill>
                  <a:srgbClr val="F0529C"/>
                </a:solidFill>
                <a:latin typeface="Arial"/>
              </a:rPr>
              <a:t>LLMs now match the best embedding models. At 1,431× the cost.</a:t>
            </a:r>
          </a:p>
        </p:txBody>
      </p:sp>
      <p:pic>
        <p:nvPicPr>
          <p:cNvPr id="7" name="Picture 6" descr="qr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342" y="782176"/>
            <a:ext cx="2559857" cy="25598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744518" y="1703193"/>
            <a:ext cx="2417643" cy="717823"/>
          </a:xfrm>
          <a:prstGeom prst="rect">
            <a:avLst/>
          </a:prstGeom>
          <a:noFill/>
        </p:spPr>
        <p:txBody>
          <a:bodyPr wrap="square" lIns="142214" tIns="71107" rIns="142214" bIns="71107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32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pic>
        <p:nvPicPr>
          <p:cNvPr id="9" name="Picture 8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449" y="782176"/>
            <a:ext cx="2559857" cy="25598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788625" y="1276550"/>
            <a:ext cx="2417643" cy="717823"/>
          </a:xfrm>
          <a:prstGeom prst="rect">
            <a:avLst/>
          </a:prstGeom>
          <a:noFill/>
        </p:spPr>
        <p:txBody>
          <a:bodyPr wrap="square" lIns="142214" tIns="71107" rIns="142214" bIns="71107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32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pic>
        <p:nvPicPr>
          <p:cNvPr id="11" name="Picture 10" descr="github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5511" y="2126101"/>
            <a:ext cx="711071" cy="711071"/>
          </a:xfrm>
          <a:prstGeom prst="rect">
            <a:avLst/>
          </a:prstGeom>
        </p:spPr>
      </p:pic>
      <p:pic>
        <p:nvPicPr>
          <p:cNvPr id="12" name="Picture 11" descr="harv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3858" y="888838"/>
            <a:ext cx="1994555" cy="2346536"/>
          </a:xfrm>
          <a:prstGeom prst="rect">
            <a:avLst/>
          </a:prstGeom>
        </p:spPr>
      </p:pic>
      <p:pic>
        <p:nvPicPr>
          <p:cNvPr id="13" name="Picture 12" descr="stanfo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66165" y="888838"/>
            <a:ext cx="1533069" cy="234653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357915" y="4053104"/>
            <a:ext cx="13848353" cy="21281349"/>
          </a:xfrm>
          <a:prstGeom prst="roundRect">
            <a:avLst>
              <a:gd name="adj" fmla="val 1200"/>
            </a:avLst>
          </a:prstGeom>
          <a:solidFill>
            <a:srgbClr val="10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436133" y="4934835"/>
            <a:ext cx="13691917" cy="20321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84557" y="4124212"/>
            <a:ext cx="12995068" cy="66993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21" b="1">
                <a:solidFill>
                  <a:srgbClr val="FFFFFF"/>
                </a:solidFill>
                <a:latin typeface="Arial"/>
              </a:rPr>
              <a:t>Per task</a:t>
            </a:r>
          </a:p>
        </p:txBody>
      </p:sp>
      <p:pic>
        <p:nvPicPr>
          <p:cNvPr id="17" name="Picture 16" descr="08_task_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13000" y="5162377"/>
            <a:ext cx="12938182" cy="1994453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00130" y="4053105"/>
            <a:ext cx="9281725" cy="7740825"/>
          </a:xfrm>
          <a:prstGeom prst="roundRect">
            <a:avLst>
              <a:gd name="adj" fmla="val 1200"/>
            </a:avLst>
          </a:prstGeom>
          <a:solidFill>
            <a:srgbClr val="10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78348" y="4934835"/>
            <a:ext cx="9125289" cy="67808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6773" y="4124211"/>
            <a:ext cx="8428440" cy="693783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76" b="1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5216" y="5219264"/>
            <a:ext cx="8371554" cy="6290239"/>
          </a:xfrm>
          <a:prstGeom prst="rect">
            <a:avLst/>
          </a:prstGeom>
          <a:noFill/>
        </p:spPr>
        <p:txBody>
          <a:bodyPr wrap="square" lIns="142214" tIns="71107" rIns="142214" bIns="71107">
            <a:spAutoFit/>
          </a:bodyPr>
          <a:lstStyle/>
          <a:p>
            <a:pPr>
              <a:lnSpc>
                <a:spcPct val="108000"/>
              </a:lnSpc>
              <a:spcAft>
                <a:spcPts val="933"/>
              </a:spcAft>
            </a:pPr>
            <a:r>
              <a:rPr sz="2488" b="1">
                <a:solidFill>
                  <a:srgbClr val="0A3235"/>
                </a:solidFill>
                <a:latin typeface="Arial"/>
              </a:rPr>
              <a:t>Should you replace your embedding pipeline with an LLM? </a:t>
            </a:r>
            <a:r>
              <a:rPr sz="2488">
                <a:solidFill>
                  <a:srgbClr val="39514F"/>
                </a:solidFill>
                <a:latin typeface="Arial"/>
              </a:rPr>
              <a:t>We compare </a:t>
            </a:r>
            <a:r>
              <a:rPr sz="2488" b="1">
                <a:solidFill>
                  <a:srgbClr val="0A3235"/>
                </a:solidFill>
                <a:latin typeface="Arial"/>
              </a:rPr>
              <a:t>10 LLMs</a:t>
            </a:r>
            <a:r>
              <a:rPr sz="2488">
                <a:solidFill>
                  <a:srgbClr val="39514F"/>
                </a:solidFill>
                <a:latin typeface="Arial"/>
              </a:rPr>
              <a:t> across six families with </a:t>
            </a:r>
            <a:r>
              <a:rPr sz="2488" b="1">
                <a:solidFill>
                  <a:srgbClr val="0A3235"/>
                </a:solidFill>
                <a:latin typeface="Arial"/>
              </a:rPr>
              <a:t>26 embedding models</a:t>
            </a:r>
            <a:r>
              <a:rPr sz="2488">
                <a:solidFill>
                  <a:srgbClr val="39514F"/>
                </a:solidFill>
                <a:latin typeface="Arial"/>
              </a:rPr>
              <a:t> on </a:t>
            </a:r>
            <a:r>
              <a:rPr sz="2488" b="1">
                <a:solidFill>
                  <a:srgbClr val="0A3235"/>
                </a:solidFill>
                <a:latin typeface="Arial"/>
              </a:rPr>
              <a:t>37 tasks</a:t>
            </a:r>
            <a:r>
              <a:rPr sz="2488">
                <a:solidFill>
                  <a:srgbClr val="39514F"/>
                </a:solidFill>
                <a:latin typeface="Arial"/>
              </a:rPr>
              <a:t> in five categories, with exact cost accounting for every model.</a:t>
            </a:r>
          </a:p>
          <a:p>
            <a:pPr>
              <a:lnSpc>
                <a:spcPct val="108000"/>
              </a:lnSpc>
              <a:spcAft>
                <a:spcPts val="933"/>
              </a:spcAft>
            </a:pPr>
            <a:r>
              <a:rPr sz="2488" b="1">
                <a:solidFill>
                  <a:srgbClr val="0A3235"/>
                </a:solidFill>
                <a:latin typeface="Arial"/>
              </a:rPr>
              <a:t>In aggregate they tie: </a:t>
            </a:r>
            <a:r>
              <a:rPr sz="2488">
                <a:solidFill>
                  <a:srgbClr val="39514F"/>
                </a:solidFill>
                <a:latin typeface="Arial"/>
              </a:rPr>
              <a:t>77.6 vs. 77.2. LLMs lead on reasoning-heavy retrieval; embeddings lead on classification; the other three categories are statistical ties.</a:t>
            </a:r>
          </a:p>
          <a:p>
            <a:pPr>
              <a:lnSpc>
                <a:spcPct val="108000"/>
              </a:lnSpc>
              <a:spcAft>
                <a:spcPts val="933"/>
              </a:spcAft>
            </a:pPr>
            <a:r>
              <a:rPr sz="2488" b="1">
                <a:solidFill>
                  <a:srgbClr val="0A3235"/>
                </a:solidFill>
                <a:latin typeface="Arial"/>
              </a:rPr>
              <a:t>An LLM pays 1,431× more for that tie</a:t>
            </a:r>
            <a:r>
              <a:rPr sz="2488">
                <a:solidFill>
                  <a:srgbClr val="39514F"/>
                </a:solidFill>
                <a:latin typeface="Arial"/>
              </a:rPr>
              <a:t> ($154 vs. $0.11 per benchmark pass), </a:t>
            </a:r>
            <a:r>
              <a:rPr sz="2488" b="1">
                <a:solidFill>
                  <a:srgbClr val="0A3235"/>
                </a:solidFill>
                <a:latin typeface="Arial"/>
              </a:rPr>
              <a:t>reasoning tokens are 28–81% of that bill</a:t>
            </a:r>
            <a:r>
              <a:rPr sz="2488">
                <a:solidFill>
                  <a:srgbClr val="39514F"/>
                </a:solidFill>
                <a:latin typeface="Arial"/>
              </a:rPr>
              <a:t>, and embeddings run </a:t>
            </a:r>
            <a:r>
              <a:rPr sz="2488" b="1">
                <a:solidFill>
                  <a:srgbClr val="0A3235"/>
                </a:solidFill>
                <a:latin typeface="Arial"/>
              </a:rPr>
              <a:t>736× faster</a:t>
            </a:r>
            <a:r>
              <a:rPr sz="2488">
                <a:solidFill>
                  <a:srgbClr val="39514F"/>
                </a:solidFill>
                <a:latin typeface="Arial"/>
              </a:rPr>
              <a:t> on the same GPU.</a:t>
            </a:r>
          </a:p>
          <a:p>
            <a:pPr>
              <a:lnSpc>
                <a:spcPct val="108000"/>
              </a:lnSpc>
              <a:spcAft>
                <a:spcPts val="933"/>
              </a:spcAft>
            </a:pPr>
            <a:r>
              <a:rPr sz="2488" b="1">
                <a:solidFill>
                  <a:srgbClr val="0A3235"/>
                </a:solidFill>
                <a:latin typeface="Arial"/>
              </a:rPr>
              <a:t>Use embeddings by default</a:t>
            </a:r>
            <a:r>
              <a:rPr sz="2488">
                <a:solidFill>
                  <a:srgbClr val="39514F"/>
                </a:solidFill>
                <a:latin typeface="Arial"/>
              </a:rPr>
              <a:t>, and an LLM only to rerank a shortlist on reasoning-heavy retrieval.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37392" y="4053105"/>
            <a:ext cx="14501000" cy="7740825"/>
          </a:xfrm>
          <a:prstGeom prst="roundRect">
            <a:avLst>
              <a:gd name="adj" fmla="val 1200"/>
            </a:avLst>
          </a:prstGeom>
          <a:solidFill>
            <a:srgbClr val="F0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15610" y="4934835"/>
            <a:ext cx="14344564" cy="67808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64035" y="4124211"/>
            <a:ext cx="13647714" cy="693783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76" b="1">
                <a:solidFill>
                  <a:srgbClr val="FFFFFF"/>
                </a:solidFill>
                <a:latin typeface="Arial"/>
              </a:rPr>
              <a:t>Cost vs. performance</a:t>
            </a:r>
          </a:p>
        </p:txBody>
      </p:sp>
      <p:pic>
        <p:nvPicPr>
          <p:cNvPr id="25" name="Picture 24" descr="01_pareto_he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2477" y="5162378"/>
            <a:ext cx="13590829" cy="640401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00130" y="12149467"/>
            <a:ext cx="16688691" cy="6003165"/>
          </a:xfrm>
          <a:prstGeom prst="roundRect">
            <a:avLst>
              <a:gd name="adj" fmla="val 1200"/>
            </a:avLst>
          </a:prstGeom>
          <a:solidFill>
            <a:srgbClr val="10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8348" y="13031196"/>
            <a:ext cx="16532256" cy="5043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26773" y="12220574"/>
            <a:ext cx="15835406" cy="693783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76" b="1">
                <a:solidFill>
                  <a:srgbClr val="FFFFFF"/>
                </a:solidFill>
                <a:latin typeface="Arial"/>
              </a:rPr>
              <a:t>Overall leaderboard</a:t>
            </a:r>
          </a:p>
        </p:txBody>
      </p:sp>
      <p:pic>
        <p:nvPicPr>
          <p:cNvPr id="29" name="Picture 28" descr="02a_leaderboard_over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5216" y="13258739"/>
            <a:ext cx="15778520" cy="4666353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8044358" y="12149467"/>
            <a:ext cx="7094036" cy="6003165"/>
          </a:xfrm>
          <a:prstGeom prst="roundRect">
            <a:avLst>
              <a:gd name="adj" fmla="val 1200"/>
            </a:avLst>
          </a:prstGeom>
          <a:solidFill>
            <a:srgbClr val="10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122576" y="13031196"/>
            <a:ext cx="6937600" cy="5043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471001" y="12220574"/>
            <a:ext cx="6240750" cy="526396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88" b="1">
                <a:solidFill>
                  <a:srgbClr val="FFFFFF"/>
                </a:solidFill>
                <a:latin typeface="Arial"/>
              </a:rPr>
              <a:t>Reranking an embedding shortlist</a:t>
            </a:r>
          </a:p>
        </p:txBody>
      </p:sp>
      <p:pic>
        <p:nvPicPr>
          <p:cNvPr id="33" name="Picture 32" descr="06_rerank_comp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99444" y="13258739"/>
            <a:ext cx="6183864" cy="466635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5493929" y="4053104"/>
            <a:ext cx="10437342" cy="14099528"/>
          </a:xfrm>
          <a:prstGeom prst="roundRect">
            <a:avLst>
              <a:gd name="adj" fmla="val 1200"/>
            </a:avLst>
          </a:prstGeom>
          <a:solidFill>
            <a:srgbClr val="10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572147" y="4934835"/>
            <a:ext cx="10280906" cy="131395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920572" y="4124212"/>
            <a:ext cx="9584056" cy="598133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54" b="1">
                <a:solidFill>
                  <a:srgbClr val="FFFFFF"/>
                </a:solidFill>
                <a:latin typeface="Arial"/>
              </a:rPr>
              <a:t>Cost vs. performance by category</a:t>
            </a:r>
          </a:p>
        </p:txBody>
      </p:sp>
      <p:pic>
        <p:nvPicPr>
          <p:cNvPr id="37" name="Picture 36" descr="03_frontier_gr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49014" y="5162377"/>
            <a:ext cx="9527171" cy="1276271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00130" y="18508170"/>
            <a:ext cx="34931142" cy="6826285"/>
          </a:xfrm>
          <a:prstGeom prst="roundRect">
            <a:avLst>
              <a:gd name="adj" fmla="val 1200"/>
            </a:avLst>
          </a:prstGeom>
          <a:solidFill>
            <a:srgbClr val="10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8348" y="19389898"/>
            <a:ext cx="34774706" cy="58663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2214" tIns="71107" rIns="142214" bIns="71107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26773" y="18579277"/>
            <a:ext cx="34077856" cy="645957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65" b="1">
                <a:solidFill>
                  <a:srgbClr val="FFFFFF"/>
                </a:solidFill>
                <a:latin typeface="Arial"/>
              </a:rPr>
              <a:t>MTEB(LLM): 37 tasks in five categories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7477" y="19560556"/>
            <a:ext cx="5604573" cy="66993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21" b="1">
                <a:solidFill>
                  <a:srgbClr val="0A3235"/>
                </a:solidFill>
                <a:latin typeface="Arial"/>
              </a:rPr>
              <a:t>Classification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7477" y="20157856"/>
            <a:ext cx="5604573" cy="526396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88" b="1">
                <a:solidFill>
                  <a:srgbClr val="F0529C"/>
                </a:solidFill>
                <a:latin typeface="Arial"/>
              </a:rPr>
              <a:t>Which label fits?</a:t>
            </a:r>
          </a:p>
        </p:txBody>
      </p:sp>
      <p:pic>
        <p:nvPicPr>
          <p:cNvPr id="43" name="Picture 42" descr="00a_task_classific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7477" y="20783598"/>
            <a:ext cx="5604573" cy="426642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26573" y="19560556"/>
            <a:ext cx="5847872" cy="66993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21" b="1">
                <a:solidFill>
                  <a:srgbClr val="0A3235"/>
                </a:solidFill>
                <a:latin typeface="Arial"/>
              </a:rPr>
              <a:t>Clustering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573" y="20157856"/>
            <a:ext cx="5847872" cy="526396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88" b="1">
                <a:solidFill>
                  <a:srgbClr val="F0529C"/>
                </a:solidFill>
                <a:latin typeface="Arial"/>
              </a:rPr>
              <a:t>Which belong together?</a:t>
            </a:r>
          </a:p>
        </p:txBody>
      </p:sp>
      <p:pic>
        <p:nvPicPr>
          <p:cNvPr id="46" name="Picture 45" descr="00b_task_cluster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6573" y="20783598"/>
            <a:ext cx="5847872" cy="426642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018969" y="19560556"/>
            <a:ext cx="6212822" cy="66993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21" b="1">
                <a:solidFill>
                  <a:srgbClr val="0A3235"/>
                </a:solidFill>
                <a:latin typeface="Arial"/>
              </a:rPr>
              <a:t>Semantic Similarity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018969" y="20157856"/>
            <a:ext cx="6212822" cy="526396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88" b="1">
                <a:solidFill>
                  <a:srgbClr val="F0529C"/>
                </a:solidFill>
                <a:latin typeface="Arial"/>
              </a:rPr>
              <a:t>How close in meaning?</a:t>
            </a:r>
          </a:p>
        </p:txBody>
      </p:sp>
      <p:pic>
        <p:nvPicPr>
          <p:cNvPr id="49" name="Picture 48" descr="00c_task_st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18969" y="20783598"/>
            <a:ext cx="6212822" cy="42664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0676316" y="19560556"/>
            <a:ext cx="6212822" cy="66993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21" b="1">
                <a:solidFill>
                  <a:srgbClr val="0A3235"/>
                </a:solidFill>
                <a:latin typeface="Arial"/>
              </a:rPr>
              <a:t>Pair Classification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676316" y="20157856"/>
            <a:ext cx="6212822" cy="526396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88" b="1">
                <a:solidFill>
                  <a:srgbClr val="F0529C"/>
                </a:solidFill>
                <a:latin typeface="Arial"/>
              </a:rPr>
              <a:t>Do these ask the same thing?</a:t>
            </a:r>
          </a:p>
        </p:txBody>
      </p:sp>
      <p:pic>
        <p:nvPicPr>
          <p:cNvPr id="52" name="Picture 51" descr="00d_task_pair_classificati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676316" y="20783598"/>
            <a:ext cx="6212822" cy="42664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7333661" y="19560556"/>
            <a:ext cx="7920261" cy="669934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21" b="1">
                <a:solidFill>
                  <a:srgbClr val="0A3235"/>
                </a:solidFill>
                <a:latin typeface="Arial"/>
              </a:rPr>
              <a:t>Retrieval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333661" y="20157856"/>
            <a:ext cx="7920261" cy="526396"/>
          </a:xfrm>
          <a:prstGeom prst="rect">
            <a:avLst/>
          </a:prstGeom>
          <a:noFill/>
        </p:spPr>
        <p:txBody>
          <a:bodyPr wrap="square" lIns="142214" tIns="71107" rIns="142214" bIns="71107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88" b="1">
                <a:solidFill>
                  <a:srgbClr val="F0529C"/>
                </a:solidFill>
                <a:latin typeface="Arial"/>
              </a:rPr>
              <a:t>Which document answers this?</a:t>
            </a:r>
          </a:p>
        </p:txBody>
      </p:sp>
      <p:pic>
        <p:nvPicPr>
          <p:cNvPr id="55" name="Picture 54" descr="00e_task_retrieva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333661" y="20783598"/>
            <a:ext cx="7920261" cy="42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7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224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Embedder's Dilemma: LLMs Are Better, but at What Cost?</dc:title>
  <dc:creator>Adnan El Assadi, Niklas Muennighoff, Jinhyuk Lee</dc:creator>
  <cp:lastModifiedBy>Adnan El Assadi</cp:lastModifiedBy>
  <cp:revision>3</cp:revision>
  <dcterms:created xsi:type="dcterms:W3CDTF">2026-07-28T09:44:46Z</dcterms:created>
  <dcterms:modified xsi:type="dcterms:W3CDTF">2026-09-18T16:58:48Z</dcterms:modified>
  <dc:subject>COLM 2026 poster</dc:subject>
</cp:coreProperties>
</file>